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444" r:id="rId2"/>
    <p:sldId id="472" r:id="rId3"/>
    <p:sldId id="426" r:id="rId4"/>
    <p:sldId id="455" r:id="rId5"/>
    <p:sldId id="437" r:id="rId6"/>
    <p:sldId id="474" r:id="rId7"/>
    <p:sldId id="473" r:id="rId8"/>
    <p:sldId id="407" r:id="rId9"/>
    <p:sldId id="475" r:id="rId10"/>
    <p:sldId id="476" r:id="rId11"/>
    <p:sldId id="469" r:id="rId12"/>
    <p:sldId id="470" r:id="rId13"/>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84158-E8C8-9BE0-21EB-718D906F94A5}" name="George Mount" initials="GM" userId="S::george@stringfestanalytics.com::22d0b802-afc6-4b8f-ba57-7a855d9692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orge Mount" initials="GM" lastIdx="9" clrIdx="0">
    <p:extLst>
      <p:ext uri="{19B8F6BF-5375-455C-9EA6-DF929625EA0E}">
        <p15:presenceInfo xmlns:p15="http://schemas.microsoft.com/office/powerpoint/2012/main" userId="57d2ab2a84d54c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F3338"/>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FE45DF-55D5-405D-A565-885B46CD6B1C}" v="18" dt="2025-10-20T17:24:06.950"/>
    <p1510:client id="{FF0EED0B-C5B4-4142-B053-6337C3D566F0}" v="5" dt="2025-10-20T16:58:00.7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2" autoAdjust="0"/>
    <p:restoredTop sz="78463" autoAdjust="0"/>
  </p:normalViewPr>
  <p:slideViewPr>
    <p:cSldViewPr>
      <p:cViewPr varScale="1">
        <p:scale>
          <a:sx n="46" d="100"/>
          <a:sy n="46" d="100"/>
        </p:scale>
        <p:origin x="48" y="235"/>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8A70-FA8C-4354-959C-C70678AC9BCF}"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500C5-13F7-48FC-8160-C29AECF6C602}" type="slidenum">
              <a:rPr lang="en-US" smtClean="0"/>
              <a:t>‹#›</a:t>
            </a:fld>
            <a:endParaRPr lang="en-US"/>
          </a:p>
        </p:txBody>
      </p:sp>
    </p:spTree>
    <p:extLst>
      <p:ext uri="{BB962C8B-B14F-4D97-AF65-F5344CB8AC3E}">
        <p14:creationId xmlns:p14="http://schemas.microsoft.com/office/powerpoint/2010/main" val="301835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framework helps make sense of all the vocabulary we’ve been talking about. Instead of treating “copilots” and “agents” as fuzzy marketing terms, it breaks things down by two dimensions: how integrated the tool is with your systems, and how much automation it can actually perform.</a:t>
            </a:r>
          </a:p>
          <a:p>
            <a:endParaRPr lang="en-US" dirty="0"/>
          </a:p>
          <a:p>
            <a:r>
              <a:rPr lang="en-US" dirty="0"/>
              <a:t>In the top left, you have copilots. They’re highly integrated because they sit inside your existing apps, but they still rely on you to drive the workflow. They improve your work, but they don’t take it over.</a:t>
            </a:r>
          </a:p>
          <a:p>
            <a:endParaRPr lang="en-US" dirty="0"/>
          </a:p>
          <a:p>
            <a:r>
              <a:rPr lang="en-US" dirty="0"/>
              <a:t>On the right, you have agents. They combine that same level of integration with the ability to take multi-step actions on their own. So they’re not just responding to you, they’re actually completing tasks across systems.</a:t>
            </a:r>
          </a:p>
          <a:p>
            <a:endParaRPr lang="en-US" dirty="0"/>
          </a:p>
          <a:p>
            <a:r>
              <a:rPr lang="en-US" dirty="0"/>
              <a:t>Below that, you have assistants and autopilots. These are less connected to your internal data and tools, even if some of them can automate quite a bit.</a:t>
            </a:r>
          </a:p>
          <a:p>
            <a:endParaRPr lang="en-US" dirty="0"/>
          </a:p>
          <a:p>
            <a:r>
              <a:rPr lang="en-US" dirty="0"/>
              <a:t>The main idea here is that Excel is moving from the “copilot” box toward the “agent” box. That’s why everything suddenly feels like it’s changing. It isn’t just giving you answers anymore — it’s starting to orchestrate real work.</a:t>
            </a:r>
          </a:p>
          <a:p>
            <a:endParaRPr lang="en-US" dirty="0"/>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5</a:t>
            </a:fld>
            <a:endParaRPr lang="en-US"/>
          </a:p>
        </p:txBody>
      </p:sp>
    </p:spTree>
    <p:extLst>
      <p:ext uri="{BB962C8B-B14F-4D97-AF65-F5344CB8AC3E}">
        <p14:creationId xmlns:p14="http://schemas.microsoft.com/office/powerpoint/2010/main" val="27715705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DB0B8-1649-268D-977C-562CF095A1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133CE-FFD2-5BD5-B0B4-B2ED694DF8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F5D75C-B068-53FF-4AA6-C99D431F8D76}"/>
              </a:ext>
            </a:extLst>
          </p:cNvPr>
          <p:cNvSpPr>
            <a:spLocks noGrp="1"/>
          </p:cNvSpPr>
          <p:nvPr>
            <p:ph type="body" idx="1"/>
          </p:nvPr>
        </p:nvSpPr>
        <p:spPr/>
        <p:txBody>
          <a:bodyPr/>
          <a:lstStyle/>
          <a:p>
            <a:pPr marL="228600" indent="-228600">
              <a:buAutoNum type="arabicPeriod"/>
            </a:pPr>
            <a:r>
              <a:rPr lang="en-US" dirty="0"/>
              <a:t>False!</a:t>
            </a:r>
          </a:p>
          <a:p>
            <a:pPr marL="228600" indent="-228600">
              <a:buAutoNum type="arabicPeriod"/>
            </a:pPr>
            <a:r>
              <a:rPr lang="en-US" dirty="0"/>
              <a:t>Function, Formula, Function</a:t>
            </a:r>
          </a:p>
          <a:p>
            <a:pPr marL="228600" indent="-228600">
              <a:buAutoNum type="arabicPeriod"/>
            </a:pPr>
            <a:r>
              <a:rPr lang="en-US" dirty="0"/>
              <a:t>Argument</a:t>
            </a:r>
          </a:p>
        </p:txBody>
      </p:sp>
      <p:sp>
        <p:nvSpPr>
          <p:cNvPr id="4" name="Slide Number Placeholder 3">
            <a:extLst>
              <a:ext uri="{FF2B5EF4-FFF2-40B4-BE49-F238E27FC236}">
                <a16:creationId xmlns:a16="http://schemas.microsoft.com/office/drawing/2014/main" id="{DD2210D2-0194-C599-0715-E7BC9ABD495D}"/>
              </a:ext>
            </a:extLst>
          </p:cNvPr>
          <p:cNvSpPr>
            <a:spLocks noGrp="1"/>
          </p:cNvSpPr>
          <p:nvPr>
            <p:ph type="sldNum" sz="quarter" idx="5"/>
          </p:nvPr>
        </p:nvSpPr>
        <p:spPr/>
        <p:txBody>
          <a:bodyPr/>
          <a:lstStyle/>
          <a:p>
            <a:fld id="{1300335D-9F13-4B80-ADC5-B0EA3E10FF6B}" type="slidenum">
              <a:rPr lang="en-US" smtClean="0"/>
              <a:t>6</a:t>
            </a:fld>
            <a:endParaRPr lang="en-US"/>
          </a:p>
        </p:txBody>
      </p:sp>
    </p:spTree>
    <p:extLst>
      <p:ext uri="{BB962C8B-B14F-4D97-AF65-F5344CB8AC3E}">
        <p14:creationId xmlns:p14="http://schemas.microsoft.com/office/powerpoint/2010/main" val="9412916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BFB8C-D9DE-8E3E-D6F3-E95B4DB7A9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66E86-6B6E-69D0-AD07-CCB30F573E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825341-E6CB-6406-C883-518D9F9079D4}"/>
              </a:ext>
            </a:extLst>
          </p:cNvPr>
          <p:cNvSpPr>
            <a:spLocks noGrp="1"/>
          </p:cNvSpPr>
          <p:nvPr>
            <p:ph type="body" idx="1"/>
          </p:nvPr>
        </p:nvSpPr>
        <p:spPr/>
        <p:txBody>
          <a:bodyPr/>
          <a:lstStyle/>
          <a:p>
            <a:r>
              <a:rPr lang="en-US" dirty="0"/>
              <a:t>This framework helps make sense of all the vocabulary we’ve been talking about. Instead of treating “copilots” and “agents” as fuzzy marketing terms, it breaks things down by two dimensions: how integrated the tool is with your systems, and how much automation it can actually perform.</a:t>
            </a:r>
          </a:p>
          <a:p>
            <a:endParaRPr lang="en-US" dirty="0"/>
          </a:p>
          <a:p>
            <a:r>
              <a:rPr lang="en-US" dirty="0"/>
              <a:t>In the top left, you have copilots. They’re highly integrated because they sit inside your existing apps, but they still rely on you to drive the workflow. They improve your work, but they don’t take it over.</a:t>
            </a:r>
          </a:p>
          <a:p>
            <a:endParaRPr lang="en-US" dirty="0"/>
          </a:p>
          <a:p>
            <a:r>
              <a:rPr lang="en-US" dirty="0"/>
              <a:t>On the right, you have agents. They combine that same level of integration with the ability to take multi-step actions on their own. So they’re not just responding to you, they’re actually completing tasks across systems.</a:t>
            </a:r>
          </a:p>
          <a:p>
            <a:endParaRPr lang="en-US" dirty="0"/>
          </a:p>
          <a:p>
            <a:r>
              <a:rPr lang="en-US" dirty="0"/>
              <a:t>Below that, you have assistants and autopilots. These are less connected to your internal data and tools, even if some of them can automate quite a bit.</a:t>
            </a:r>
          </a:p>
          <a:p>
            <a:endParaRPr lang="en-US" dirty="0"/>
          </a:p>
          <a:p>
            <a:r>
              <a:rPr lang="en-US" dirty="0"/>
              <a:t>The main idea here is that Excel is moving from the “copilot” box toward the “agent” box. That’s why everything suddenly feels like it’s changing. It isn’t just giving you answers anymore — it’s starting to orchestrate real work.</a:t>
            </a:r>
          </a:p>
          <a:p>
            <a:endParaRPr lang="en-US" dirty="0"/>
          </a:p>
          <a:p>
            <a:endParaRPr lang="en-US" dirty="0"/>
          </a:p>
        </p:txBody>
      </p:sp>
      <p:sp>
        <p:nvSpPr>
          <p:cNvPr id="4" name="Slide Number Placeholder 3">
            <a:extLst>
              <a:ext uri="{FF2B5EF4-FFF2-40B4-BE49-F238E27FC236}">
                <a16:creationId xmlns:a16="http://schemas.microsoft.com/office/drawing/2014/main" id="{68C6D073-57C0-E538-95EE-E6FDD86200F8}"/>
              </a:ext>
            </a:extLst>
          </p:cNvPr>
          <p:cNvSpPr>
            <a:spLocks noGrp="1"/>
          </p:cNvSpPr>
          <p:nvPr>
            <p:ph type="sldNum" sz="quarter" idx="5"/>
          </p:nvPr>
        </p:nvSpPr>
        <p:spPr/>
        <p:txBody>
          <a:bodyPr/>
          <a:lstStyle/>
          <a:p>
            <a:fld id="{FFB500C5-13F7-48FC-8160-C29AECF6C602}" type="slidenum">
              <a:rPr lang="en-US" smtClean="0"/>
              <a:t>7</a:t>
            </a:fld>
            <a:endParaRPr lang="en-US"/>
          </a:p>
        </p:txBody>
      </p:sp>
    </p:spTree>
    <p:extLst>
      <p:ext uri="{BB962C8B-B14F-4D97-AF65-F5344CB8AC3E}">
        <p14:creationId xmlns:p14="http://schemas.microsoft.com/office/powerpoint/2010/main" val="530937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False!</a:t>
            </a:r>
          </a:p>
          <a:p>
            <a:pPr marL="228600" indent="-228600">
              <a:buAutoNum type="arabicPeriod"/>
            </a:pPr>
            <a:r>
              <a:rPr lang="en-US" dirty="0"/>
              <a:t>Function, Formula, Function</a:t>
            </a:r>
          </a:p>
          <a:p>
            <a:pPr marL="228600" indent="-228600">
              <a:buAutoNum type="arabicPeriod"/>
            </a:pPr>
            <a:r>
              <a:rPr lang="en-US" dirty="0"/>
              <a:t>Argument</a:t>
            </a:r>
          </a:p>
        </p:txBody>
      </p:sp>
      <p:sp>
        <p:nvSpPr>
          <p:cNvPr id="4" name="Slide Number Placeholder 3"/>
          <p:cNvSpPr>
            <a:spLocks noGrp="1"/>
          </p:cNvSpPr>
          <p:nvPr>
            <p:ph type="sldNum" sz="quarter" idx="5"/>
          </p:nvPr>
        </p:nvSpPr>
        <p:spPr/>
        <p:txBody>
          <a:bodyPr/>
          <a:lstStyle/>
          <a:p>
            <a:fld id="{1300335D-9F13-4B80-ADC5-B0EA3E10FF6B}" type="slidenum">
              <a:rPr lang="en-US" smtClean="0"/>
              <a:t>8</a:t>
            </a:fld>
            <a:endParaRPr lang="en-US"/>
          </a:p>
        </p:txBody>
      </p:sp>
    </p:spTree>
    <p:extLst>
      <p:ext uri="{BB962C8B-B14F-4D97-AF65-F5344CB8AC3E}">
        <p14:creationId xmlns:p14="http://schemas.microsoft.com/office/powerpoint/2010/main" val="624549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E52C9-3989-149D-7D64-4AB2984F0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C29740-E215-6AAD-4E42-505289BB30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3B51E0-44F9-4197-33E1-A4871CFEEC2D}"/>
              </a:ext>
            </a:extLst>
          </p:cNvPr>
          <p:cNvSpPr>
            <a:spLocks noGrp="1"/>
          </p:cNvSpPr>
          <p:nvPr>
            <p:ph type="body" idx="1"/>
          </p:nvPr>
        </p:nvSpPr>
        <p:spPr/>
        <p:txBody>
          <a:bodyPr/>
          <a:lstStyle/>
          <a:p>
            <a:pPr marL="228600" indent="-228600">
              <a:buAutoNum type="arabicPeriod"/>
            </a:pPr>
            <a:r>
              <a:rPr lang="en-US" dirty="0"/>
              <a:t>False!</a:t>
            </a:r>
          </a:p>
          <a:p>
            <a:pPr marL="228600" indent="-228600">
              <a:buAutoNum type="arabicPeriod"/>
            </a:pPr>
            <a:r>
              <a:rPr lang="en-US" dirty="0"/>
              <a:t>Function, Formula, Function</a:t>
            </a:r>
          </a:p>
          <a:p>
            <a:pPr marL="228600" indent="-228600">
              <a:buAutoNum type="arabicPeriod"/>
            </a:pPr>
            <a:r>
              <a:rPr lang="en-US" dirty="0"/>
              <a:t>Argument</a:t>
            </a:r>
          </a:p>
        </p:txBody>
      </p:sp>
      <p:sp>
        <p:nvSpPr>
          <p:cNvPr id="4" name="Slide Number Placeholder 3">
            <a:extLst>
              <a:ext uri="{FF2B5EF4-FFF2-40B4-BE49-F238E27FC236}">
                <a16:creationId xmlns:a16="http://schemas.microsoft.com/office/drawing/2014/main" id="{AE47F473-45AA-7073-856C-4B37408D1D25}"/>
              </a:ext>
            </a:extLst>
          </p:cNvPr>
          <p:cNvSpPr>
            <a:spLocks noGrp="1"/>
          </p:cNvSpPr>
          <p:nvPr>
            <p:ph type="sldNum" sz="quarter" idx="5"/>
          </p:nvPr>
        </p:nvSpPr>
        <p:spPr/>
        <p:txBody>
          <a:bodyPr/>
          <a:lstStyle/>
          <a:p>
            <a:fld id="{1300335D-9F13-4B80-ADC5-B0EA3E10FF6B}" type="slidenum">
              <a:rPr lang="en-US" smtClean="0"/>
              <a:t>9</a:t>
            </a:fld>
            <a:endParaRPr lang="en-US"/>
          </a:p>
        </p:txBody>
      </p:sp>
    </p:spTree>
    <p:extLst>
      <p:ext uri="{BB962C8B-B14F-4D97-AF65-F5344CB8AC3E}">
        <p14:creationId xmlns:p14="http://schemas.microsoft.com/office/powerpoint/2010/main" val="1535212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github.com/stringfestdata/gxls-copilot-studio-excel/archive/refs/heads/main.zip"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hyperlink" Target="https://blog.tobiaszwingmann.com/p/integration-automation-ai-framework"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hyperlink" Target="https://www.linkedin.com/posts/hamishsheild_recently-ive-been-working-with-teams-who-activity-7432532796482695168-gTbp?utm_source=share&amp;utm_medium=member_desktop&amp;rcm=ACoAAATCK8AB8LEMRRQ353gE1bukLsTb6mY_Zbg" TargetMode="Externa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hyperlink" Target="https://globalexcelsummit.com/product/becoming-a-citizen-developer-with-power-platform"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8EB9D66-9CB4-B474-27D6-F594F19E2A76}"/>
              </a:ext>
            </a:extLst>
          </p:cNvPr>
          <p:cNvPicPr>
            <a:picLocks noChangeAspect="1"/>
          </p:cNvPicPr>
          <p:nvPr/>
        </p:nvPicPr>
        <p:blipFill>
          <a:blip r:embed="rId2"/>
          <a:srcRect/>
          <a:stretch/>
        </p:blipFill>
        <p:spPr>
          <a:xfrm>
            <a:off x="0" y="0"/>
            <a:ext cx="18288000" cy="10287000"/>
          </a:xfrm>
          <a:prstGeom prst="rect">
            <a:avLst/>
          </a:prstGeom>
        </p:spPr>
      </p:pic>
      <p:sp>
        <p:nvSpPr>
          <p:cNvPr id="2" name="Title 1">
            <a:extLst>
              <a:ext uri="{FF2B5EF4-FFF2-40B4-BE49-F238E27FC236}">
                <a16:creationId xmlns:a16="http://schemas.microsoft.com/office/drawing/2014/main" id="{6F578B23-3522-A45E-113D-CFC55209E2C5}"/>
              </a:ext>
            </a:extLst>
          </p:cNvPr>
          <p:cNvSpPr>
            <a:spLocks noGrp="1"/>
          </p:cNvSpPr>
          <p:nvPr>
            <p:ph type="ctrTitle"/>
          </p:nvPr>
        </p:nvSpPr>
        <p:spPr>
          <a:xfrm>
            <a:off x="2286000" y="2598656"/>
            <a:ext cx="13716000" cy="3581400"/>
          </a:xfrm>
        </p:spPr>
        <p:txBody>
          <a:bodyPr>
            <a:normAutofit fontScale="90000"/>
          </a:bodyPr>
          <a:lstStyle/>
          <a:p>
            <a:r>
              <a:rPr lang="en-US" sz="9900" b="1" dirty="0">
                <a:solidFill>
                  <a:srgbClr val="241F62"/>
                </a:solidFill>
                <a:latin typeface="+mn-lt"/>
              </a:rPr>
              <a:t>Custom Copilot with Copilot Studio: Building AI Assistants for Excel</a:t>
            </a:r>
            <a:endParaRPr lang="en-BG" sz="9900" b="1" dirty="0">
              <a:solidFill>
                <a:srgbClr val="241F62"/>
              </a:solidFill>
              <a:latin typeface="+mn-lt"/>
            </a:endParaRPr>
          </a:p>
        </p:txBody>
      </p:sp>
      <p:pic>
        <p:nvPicPr>
          <p:cNvPr id="7" name="Picture 6">
            <a:extLst>
              <a:ext uri="{FF2B5EF4-FFF2-40B4-BE49-F238E27FC236}">
                <a16:creationId xmlns:a16="http://schemas.microsoft.com/office/drawing/2014/main" id="{CADADD3B-A58B-45A3-D5DF-D99E4EB05D2C}"/>
              </a:ext>
            </a:extLst>
          </p:cNvPr>
          <p:cNvPicPr>
            <a:picLocks noChangeAspect="1"/>
          </p:cNvPicPr>
          <p:nvPr/>
        </p:nvPicPr>
        <p:blipFill>
          <a:blip r:embed="rId3"/>
          <a:srcRect b="22069"/>
          <a:stretch/>
        </p:blipFill>
        <p:spPr>
          <a:xfrm>
            <a:off x="8153400" y="8430867"/>
            <a:ext cx="1981200" cy="979833"/>
          </a:xfrm>
          <a:prstGeom prst="rect">
            <a:avLst/>
          </a:prstGeom>
        </p:spPr>
      </p:pic>
      <p:sp>
        <p:nvSpPr>
          <p:cNvPr id="3" name="Title 1">
            <a:extLst>
              <a:ext uri="{FF2B5EF4-FFF2-40B4-BE49-F238E27FC236}">
                <a16:creationId xmlns:a16="http://schemas.microsoft.com/office/drawing/2014/main" id="{51C8D1E5-24B9-FEAC-440F-B059007D73CE}"/>
              </a:ext>
            </a:extLst>
          </p:cNvPr>
          <p:cNvSpPr txBox="1">
            <a:spLocks/>
          </p:cNvSpPr>
          <p:nvPr/>
        </p:nvSpPr>
        <p:spPr>
          <a:xfrm>
            <a:off x="13454742" y="548858"/>
            <a:ext cx="4082145" cy="945771"/>
          </a:xfrm>
          <a:prstGeom prst="rect">
            <a:avLst/>
          </a:prstGeom>
        </p:spPr>
        <p:txBody>
          <a:bodyPr vert="horz" lIns="137160" tIns="68580" rIns="137160" bIns="68580" rtlCol="0" anchor="ctr">
            <a:normAutofit/>
          </a:bodyPr>
          <a:lstStyle>
            <a:lvl1pPr algn="l" defTabSz="914400" rtl="0" eaLnBrk="1" latinLnBrk="0" hangingPunct="1">
              <a:lnSpc>
                <a:spcPct val="90000"/>
              </a:lnSpc>
              <a:spcBef>
                <a:spcPct val="0"/>
              </a:spcBef>
              <a:buNone/>
              <a:defRPr sz="4800" b="1" kern="1200">
                <a:solidFill>
                  <a:schemeClr val="bg1"/>
                </a:solidFill>
                <a:latin typeface="+mn-lt"/>
                <a:ea typeface="+mj-ea"/>
                <a:cs typeface="+mj-cs"/>
              </a:defRPr>
            </a:lvl1pPr>
          </a:lstStyle>
          <a:p>
            <a:r>
              <a:rPr lang="en-GB" sz="4200" dirty="0">
                <a:solidFill>
                  <a:srgbClr val="241F62"/>
                </a:solidFill>
                <a:latin typeface="+mj-lt"/>
              </a:rPr>
              <a:t>George Mount</a:t>
            </a:r>
            <a:endParaRPr lang="en-BG" sz="4200" dirty="0">
              <a:solidFill>
                <a:srgbClr val="241F62"/>
              </a:solidFill>
              <a:latin typeface="+mj-lt"/>
            </a:endParaRPr>
          </a:p>
        </p:txBody>
      </p:sp>
    </p:spTree>
    <p:extLst>
      <p:ext uri="{BB962C8B-B14F-4D97-AF65-F5344CB8AC3E}">
        <p14:creationId xmlns:p14="http://schemas.microsoft.com/office/powerpoint/2010/main" val="2757564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8288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5" name="TextBox 4"/>
          <p:cNvSpPr txBox="1"/>
          <p:nvPr/>
        </p:nvSpPr>
        <p:spPr>
          <a:xfrm>
            <a:off x="781292" y="590309"/>
            <a:ext cx="15486926" cy="1615827"/>
          </a:xfrm>
          <a:prstGeom prst="rect">
            <a:avLst/>
          </a:prstGeom>
          <a:noFill/>
        </p:spPr>
        <p:txBody>
          <a:bodyPr wrap="square" rtlCol="0">
            <a:spAutoFit/>
          </a:bodyPr>
          <a:lstStyle/>
          <a:p>
            <a:r>
              <a:rPr lang="en-US" sz="9900" b="1" dirty="0">
                <a:solidFill>
                  <a:schemeClr val="bg1"/>
                </a:solidFill>
                <a:latin typeface="Normafixed Tryout" panose="00000409000000000000" pitchFamily="49" charset="0"/>
              </a:rPr>
              <a:t>About me</a:t>
            </a:r>
          </a:p>
        </p:txBody>
      </p:sp>
      <p:pic>
        <p:nvPicPr>
          <p:cNvPr id="3" name="Picture 4" descr="Advancing into Analytics Cover Image">
            <a:extLst>
              <a:ext uri="{FF2B5EF4-FFF2-40B4-BE49-F238E27FC236}">
                <a16:creationId xmlns:a16="http://schemas.microsoft.com/office/drawing/2014/main" id="{588F684B-18EF-D76C-5F7B-15E4BAD6064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638675" y="195638"/>
            <a:ext cx="3130385" cy="408866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Logo&#10;&#10;Description automatically generated">
            <a:extLst>
              <a:ext uri="{FF2B5EF4-FFF2-40B4-BE49-F238E27FC236}">
                <a16:creationId xmlns:a16="http://schemas.microsoft.com/office/drawing/2014/main" id="{97E0F267-87DF-961E-1FAA-47FD4F27A5C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83691" y="6002696"/>
            <a:ext cx="7448309" cy="5462681"/>
          </a:xfrm>
          <a:prstGeom prst="rect">
            <a:avLst/>
          </a:prstGeom>
        </p:spPr>
      </p:pic>
      <p:pic>
        <p:nvPicPr>
          <p:cNvPr id="1026" name="Picture 2" descr="Modern data analytics in Excel book cover">
            <a:extLst>
              <a:ext uri="{FF2B5EF4-FFF2-40B4-BE49-F238E27FC236}">
                <a16:creationId xmlns:a16="http://schemas.microsoft.com/office/drawing/2014/main" id="{874ADA5E-A7A7-1D02-C728-513187DE1E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8829" y="1736915"/>
            <a:ext cx="3437261" cy="450799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icrosoft Most Valuable Professional - Wikipedia">
            <a:extLst>
              <a:ext uri="{FF2B5EF4-FFF2-40B4-BE49-F238E27FC236}">
                <a16:creationId xmlns:a16="http://schemas.microsoft.com/office/drawing/2014/main" id="{36C71929-5967-B93D-05FE-E330D621C5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642" y="7832951"/>
            <a:ext cx="5057775" cy="20288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Global Excel Summit (9-11 February 2022) - Microsoft Excel Conference">
            <a:extLst>
              <a:ext uri="{FF2B5EF4-FFF2-40B4-BE49-F238E27FC236}">
                <a16:creationId xmlns:a16="http://schemas.microsoft.com/office/drawing/2014/main" id="{A4A37758-F92B-49D0-9144-77DE1A40AF22}"/>
              </a:ext>
            </a:extLst>
          </p:cNvPr>
          <p:cNvPicPr>
            <a:picLocks noChangeAspect="1"/>
          </p:cNvPicPr>
          <p:nvPr/>
        </p:nvPicPr>
        <p:blipFill>
          <a:blip r:embed="rId6"/>
          <a:stretch>
            <a:fillRect/>
          </a:stretch>
        </p:blipFill>
        <p:spPr>
          <a:xfrm>
            <a:off x="14397664" y="4795613"/>
            <a:ext cx="2901909" cy="2901909"/>
          </a:xfrm>
          <a:prstGeom prst="rect">
            <a:avLst/>
          </a:prstGeom>
        </p:spPr>
      </p:pic>
      <p:pic>
        <p:nvPicPr>
          <p:cNvPr id="7" name="Picture 6" descr="linkedinlearninginstructor #linkedinlearning | Thais Cooke | 80 comments">
            <a:extLst>
              <a:ext uri="{FF2B5EF4-FFF2-40B4-BE49-F238E27FC236}">
                <a16:creationId xmlns:a16="http://schemas.microsoft.com/office/drawing/2014/main" id="{C1E81082-DC04-E8C8-AF35-69591438D97C}"/>
              </a:ext>
            </a:extLst>
          </p:cNvPr>
          <p:cNvPicPr>
            <a:picLocks noChangeAspect="1"/>
          </p:cNvPicPr>
          <p:nvPr/>
        </p:nvPicPr>
        <p:blipFill>
          <a:blip r:embed="rId7"/>
          <a:stretch>
            <a:fillRect/>
          </a:stretch>
        </p:blipFill>
        <p:spPr>
          <a:xfrm>
            <a:off x="2933407" y="4935896"/>
            <a:ext cx="5185833" cy="2133600"/>
          </a:xfrm>
          <a:prstGeom prst="rect">
            <a:avLst/>
          </a:prstGeom>
        </p:spPr>
      </p:pic>
      <p:sp>
        <p:nvSpPr>
          <p:cNvPr id="9" name="TextBox 8">
            <a:extLst>
              <a:ext uri="{FF2B5EF4-FFF2-40B4-BE49-F238E27FC236}">
                <a16:creationId xmlns:a16="http://schemas.microsoft.com/office/drawing/2014/main" id="{A4DDDC47-548D-1287-3489-8B5D9DA3C477}"/>
              </a:ext>
            </a:extLst>
          </p:cNvPr>
          <p:cNvSpPr txBox="1"/>
          <p:nvPr/>
        </p:nvSpPr>
        <p:spPr>
          <a:xfrm>
            <a:off x="849234" y="2485315"/>
            <a:ext cx="6618366" cy="1754326"/>
          </a:xfrm>
          <a:prstGeom prst="rect">
            <a:avLst/>
          </a:prstGeom>
          <a:noFill/>
        </p:spPr>
        <p:txBody>
          <a:bodyPr wrap="square" rtlCol="0">
            <a:spAutoFit/>
          </a:bodyPr>
          <a:lstStyle/>
          <a:p>
            <a:r>
              <a:rPr lang="en-US" sz="3600" b="1" dirty="0">
                <a:solidFill>
                  <a:schemeClr val="bg1"/>
                </a:solidFill>
              </a:rPr>
              <a:t>I help Excel users move from fragile spreadsheets</a:t>
            </a:r>
          </a:p>
          <a:p>
            <a:r>
              <a:rPr lang="en-US" sz="3600" b="1" dirty="0">
                <a:solidFill>
                  <a:schemeClr val="bg1"/>
                </a:solidFill>
              </a:rPr>
              <a:t>to confident, scalable analysis.</a:t>
            </a:r>
          </a:p>
        </p:txBody>
      </p:sp>
    </p:spTree>
    <p:extLst>
      <p:ext uri="{BB962C8B-B14F-4D97-AF65-F5344CB8AC3E}">
        <p14:creationId xmlns:p14="http://schemas.microsoft.com/office/powerpoint/2010/main" val="612351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20861" y="170082"/>
            <a:ext cx="13957139" cy="1477328"/>
          </a:xfrm>
          <a:prstGeom prst="rect">
            <a:avLst/>
          </a:prstGeom>
          <a:noFill/>
        </p:spPr>
        <p:txBody>
          <a:bodyPr wrap="square" rtlCol="0">
            <a:spAutoFit/>
          </a:bodyPr>
          <a:lstStyle/>
          <a:p>
            <a:r>
              <a:rPr lang="en-US" sz="9000" dirty="0">
                <a:latin typeface="Aliens &amp; cows" panose="00000500000000000000" pitchFamily="2" charset="0"/>
              </a:rPr>
              <a:t>Objectives for this session</a:t>
            </a:r>
          </a:p>
        </p:txBody>
      </p:sp>
      <p:sp>
        <p:nvSpPr>
          <p:cNvPr id="3" name="TextBox 2"/>
          <p:cNvSpPr txBox="1"/>
          <p:nvPr/>
        </p:nvSpPr>
        <p:spPr>
          <a:xfrm>
            <a:off x="685800" y="2628900"/>
            <a:ext cx="16230600" cy="5262979"/>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How to build your own Copilots for Excel in Copilot Studio</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How to create focused, task-specific assistants that actually help with classification, reporting, and data cleanup</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How to use the newer custom 365 Agents, which are easier to provision and deploy inside Microsoft 365</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How to structure prompts and workflows so your AI outputs are reliable and usable inside Excel</a:t>
            </a:r>
          </a:p>
        </p:txBody>
      </p:sp>
      <p:pic>
        <p:nvPicPr>
          <p:cNvPr id="15" name="Picture 14" descr="A close up of a sign&#10;&#10;Description automatically generated">
            <a:extLst>
              <a:ext uri="{FF2B5EF4-FFF2-40B4-BE49-F238E27FC236}">
                <a16:creationId xmlns:a16="http://schemas.microsoft.com/office/drawing/2014/main" id="{29761B90-A7DE-4A60-A915-F085BD87CA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787076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6697A-2DDC-AD06-0D5F-524946CCFA3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E25D70B-1F78-7AF8-4771-7B64B436CB0F}"/>
              </a:ext>
            </a:extLst>
          </p:cNvPr>
          <p:cNvSpPr txBox="1"/>
          <p:nvPr/>
        </p:nvSpPr>
        <p:spPr>
          <a:xfrm>
            <a:off x="520861" y="170082"/>
            <a:ext cx="14642939" cy="1477328"/>
          </a:xfrm>
          <a:prstGeom prst="rect">
            <a:avLst/>
          </a:prstGeom>
          <a:noFill/>
        </p:spPr>
        <p:txBody>
          <a:bodyPr wrap="square" rtlCol="0">
            <a:spAutoFit/>
          </a:bodyPr>
          <a:lstStyle/>
          <a:p>
            <a:r>
              <a:rPr lang="en-US" sz="9000">
                <a:latin typeface="Aliens &amp; cows" panose="00000500000000000000" pitchFamily="2" charset="0"/>
              </a:rPr>
              <a:t>Resources</a:t>
            </a:r>
            <a:endParaRPr lang="en-US" sz="9000" dirty="0">
              <a:latin typeface="Aliens &amp; cows" panose="00000500000000000000" pitchFamily="2" charset="0"/>
            </a:endParaRPr>
          </a:p>
        </p:txBody>
      </p:sp>
      <p:sp>
        <p:nvSpPr>
          <p:cNvPr id="3" name="TextBox 2">
            <a:extLst>
              <a:ext uri="{FF2B5EF4-FFF2-40B4-BE49-F238E27FC236}">
                <a16:creationId xmlns:a16="http://schemas.microsoft.com/office/drawing/2014/main" id="{8AD5976A-E96C-DF78-2D1D-42CD64D3E69F}"/>
              </a:ext>
            </a:extLst>
          </p:cNvPr>
          <p:cNvSpPr txBox="1"/>
          <p:nvPr/>
        </p:nvSpPr>
        <p:spPr>
          <a:xfrm>
            <a:off x="520861" y="3191948"/>
            <a:ext cx="14393120" cy="258532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Download at </a:t>
            </a:r>
            <a:r>
              <a:rPr lang="en-US" sz="5400" dirty="0">
                <a:solidFill>
                  <a:srgbClr val="707070"/>
                </a:solidFill>
                <a:latin typeface="Pragmatica" panose="020B0403040502020204" pitchFamily="34" charset="0"/>
                <a:hlinkClick r:id="rId2"/>
              </a:rPr>
              <a:t>https://github.com/stringfestdata/gxls-copilot-studio-excel/archive/refs/heads/main.zip</a:t>
            </a:r>
            <a:r>
              <a:rPr lang="en-US" sz="5400" dirty="0">
                <a:solidFill>
                  <a:srgbClr val="707070"/>
                </a:solidFill>
                <a:latin typeface="Pragmatica" panose="020B0403040502020204" pitchFamily="34" charset="0"/>
              </a:rPr>
              <a:t> </a:t>
            </a:r>
          </a:p>
        </p:txBody>
      </p:sp>
      <p:pic>
        <p:nvPicPr>
          <p:cNvPr id="15" name="Picture 14" descr="A close up of a sign&#10;&#10;Description automatically generated">
            <a:extLst>
              <a:ext uri="{FF2B5EF4-FFF2-40B4-BE49-F238E27FC236}">
                <a16:creationId xmlns:a16="http://schemas.microsoft.com/office/drawing/2014/main" id="{56BC9DC3-5856-1F48-F0BE-E6FB589534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3740785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C3270-992F-73FB-7E73-4DA42D379BB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5358931-C887-DF08-D582-E12AD136D695}"/>
              </a:ext>
            </a:extLst>
          </p:cNvPr>
          <p:cNvSpPr txBox="1"/>
          <p:nvPr/>
        </p:nvSpPr>
        <p:spPr>
          <a:xfrm>
            <a:off x="520861" y="170082"/>
            <a:ext cx="16395539" cy="1200329"/>
          </a:xfrm>
          <a:prstGeom prst="rect">
            <a:avLst/>
          </a:prstGeom>
          <a:noFill/>
        </p:spPr>
        <p:txBody>
          <a:bodyPr wrap="square" rtlCol="0">
            <a:spAutoFit/>
          </a:bodyPr>
          <a:lstStyle/>
          <a:p>
            <a:r>
              <a:rPr lang="en-US" sz="7200" dirty="0">
                <a:latin typeface="Aliens &amp; cows" panose="00000500000000000000" pitchFamily="2" charset="0"/>
              </a:rPr>
              <a:t>The integration-automation AI framework</a:t>
            </a:r>
          </a:p>
        </p:txBody>
      </p:sp>
      <p:pic>
        <p:nvPicPr>
          <p:cNvPr id="15" name="Picture 14" descr="A close up of a sign&#10;&#10;Description automatically generated">
            <a:extLst>
              <a:ext uri="{FF2B5EF4-FFF2-40B4-BE49-F238E27FC236}">
                <a16:creationId xmlns:a16="http://schemas.microsoft.com/office/drawing/2014/main" id="{88701840-B113-B321-9200-F6ADD5F263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4" name="TextBox 3">
            <a:extLst>
              <a:ext uri="{FF2B5EF4-FFF2-40B4-BE49-F238E27FC236}">
                <a16:creationId xmlns:a16="http://schemas.microsoft.com/office/drawing/2014/main" id="{057A3FD3-5C03-0966-77FB-885E6BFE811D}"/>
              </a:ext>
            </a:extLst>
          </p:cNvPr>
          <p:cNvSpPr txBox="1"/>
          <p:nvPr/>
        </p:nvSpPr>
        <p:spPr>
          <a:xfrm>
            <a:off x="152400" y="7254596"/>
            <a:ext cx="3446118" cy="2862322"/>
          </a:xfrm>
          <a:prstGeom prst="rect">
            <a:avLst/>
          </a:prstGeom>
          <a:noFill/>
        </p:spPr>
        <p:txBody>
          <a:bodyPr wrap="square">
            <a:spAutoFit/>
          </a:bodyPr>
          <a:lstStyle/>
          <a:p>
            <a:r>
              <a:rPr lang="en-US" sz="3600" dirty="0">
                <a:hlinkClick r:id="rId4">
                  <a:extLst>
                    <a:ext uri="{A12FA001-AC4F-418D-AE19-62706E023703}">
                      <ahyp:hlinkClr xmlns:ahyp="http://schemas.microsoft.com/office/drawing/2018/hyperlinkcolor" val="tx"/>
                    </a:ext>
                  </a:extLst>
                </a:hlinkClick>
              </a:rPr>
              <a:t>https://blog.tobiaszwingmann.com/p/integration-automation-ai-framework</a:t>
            </a:r>
            <a:r>
              <a:rPr lang="en-US" sz="3600" dirty="0"/>
              <a:t> </a:t>
            </a:r>
          </a:p>
        </p:txBody>
      </p:sp>
      <p:pic>
        <p:nvPicPr>
          <p:cNvPr id="3074" name="Picture 2">
            <a:extLst>
              <a:ext uri="{FF2B5EF4-FFF2-40B4-BE49-F238E27FC236}">
                <a16:creationId xmlns:a16="http://schemas.microsoft.com/office/drawing/2014/main" id="{BD67A6B6-57FE-1727-C346-ED9D61BE40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6200" y="1369361"/>
            <a:ext cx="10287000" cy="8734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971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67157-5DA3-1674-5AC6-770AD69D269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73C3FDA-8BAD-1BF4-377A-DDAA68AEF5C9}"/>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61567314-353E-B621-D17D-843C5205F5B9}"/>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4DE64632-DC57-4E96-1277-4C204F9221F7}"/>
              </a:ext>
            </a:extLst>
          </p:cNvPr>
          <p:cNvSpPr txBox="1"/>
          <p:nvPr/>
        </p:nvSpPr>
        <p:spPr>
          <a:xfrm>
            <a:off x="260431" y="329879"/>
            <a:ext cx="8906720" cy="6934784"/>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Demo 1: MVP knowledge base </a:t>
            </a:r>
          </a:p>
          <a:p>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Create Excel MVP knowledge base with Copilot Studio</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Set custom knowledge sources &amp; instructions</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Add custom goodbye message</a:t>
            </a:r>
          </a:p>
          <a:p>
            <a:pPr marL="142875">
              <a:lnSpc>
                <a:spcPct val="115000"/>
              </a:lnSpc>
              <a:spcBef>
                <a:spcPts val="1125"/>
              </a:spcBef>
              <a:buClr>
                <a:srgbClr val="C00000"/>
              </a:buClr>
              <a:buSzPts val="2100"/>
            </a:pPr>
            <a:endParaRPr lang="en-US" sz="3600" dirty="0">
              <a:solidFill>
                <a:srgbClr val="C00000"/>
              </a:solidFill>
              <a:latin typeface="Pragmatica" panose="020B0403040502020204"/>
              <a:sym typeface="Consolas"/>
            </a:endParaRPr>
          </a:p>
        </p:txBody>
      </p:sp>
    </p:spTree>
    <p:extLst>
      <p:ext uri="{BB962C8B-B14F-4D97-AF65-F5344CB8AC3E}">
        <p14:creationId xmlns:p14="http://schemas.microsoft.com/office/powerpoint/2010/main" val="3814165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BF7E1-8841-08F4-4496-63501251C0E5}"/>
            </a:ext>
          </a:extLst>
        </p:cNvPr>
        <p:cNvGrpSpPr/>
        <p:nvPr/>
      </p:nvGrpSpPr>
      <p:grpSpPr>
        <a:xfrm>
          <a:off x="0" y="0"/>
          <a:ext cx="0" cy="0"/>
          <a:chOff x="0" y="0"/>
          <a:chExt cx="0" cy="0"/>
        </a:xfrm>
      </p:grpSpPr>
      <p:pic>
        <p:nvPicPr>
          <p:cNvPr id="15" name="Picture 14" descr="A close up of a sign&#10;&#10;Description automatically generated">
            <a:extLst>
              <a:ext uri="{FF2B5EF4-FFF2-40B4-BE49-F238E27FC236}">
                <a16:creationId xmlns:a16="http://schemas.microsoft.com/office/drawing/2014/main" id="{FC830BA0-FE02-5935-CAEE-FE730AEB99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pic>
        <p:nvPicPr>
          <p:cNvPr id="2" name="Picture 1" descr="table">
            <a:extLst>
              <a:ext uri="{FF2B5EF4-FFF2-40B4-BE49-F238E27FC236}">
                <a16:creationId xmlns:a16="http://schemas.microsoft.com/office/drawing/2014/main" id="{A4ECC1C4-201E-66D4-D0D6-2DB78F2B61F7}"/>
              </a:ext>
            </a:extLst>
          </p:cNvPr>
          <p:cNvPicPr>
            <a:picLocks noChangeAspect="1"/>
          </p:cNvPicPr>
          <p:nvPr/>
        </p:nvPicPr>
        <p:blipFill>
          <a:blip r:embed="rId4"/>
          <a:stretch>
            <a:fillRect/>
          </a:stretch>
        </p:blipFill>
        <p:spPr>
          <a:xfrm>
            <a:off x="-4107" y="-1"/>
            <a:ext cx="16345143" cy="9194143"/>
          </a:xfrm>
          <a:prstGeom prst="rect">
            <a:avLst/>
          </a:prstGeom>
        </p:spPr>
      </p:pic>
      <p:sp>
        <p:nvSpPr>
          <p:cNvPr id="5" name="TextBox 4">
            <a:extLst>
              <a:ext uri="{FF2B5EF4-FFF2-40B4-BE49-F238E27FC236}">
                <a16:creationId xmlns:a16="http://schemas.microsoft.com/office/drawing/2014/main" id="{648FBECD-14EF-BF55-93DA-570EFF24F3E9}"/>
              </a:ext>
            </a:extLst>
          </p:cNvPr>
          <p:cNvSpPr txBox="1"/>
          <p:nvPr/>
        </p:nvSpPr>
        <p:spPr>
          <a:xfrm>
            <a:off x="152400" y="9410700"/>
            <a:ext cx="15849600" cy="646331"/>
          </a:xfrm>
          <a:prstGeom prst="rect">
            <a:avLst/>
          </a:prstGeom>
          <a:noFill/>
        </p:spPr>
        <p:txBody>
          <a:bodyPr wrap="square">
            <a:spAutoFit/>
          </a:bodyPr>
          <a:lstStyle/>
          <a:p>
            <a:r>
              <a:rPr lang="en-US" dirty="0">
                <a:hlinkClick r:id="rId5"/>
              </a:rPr>
              <a:t>https://www.linkedin.com/posts/hamishsheild_recently-ive-been-working-with-teams-who-activity-7432532796482695168-gTbp?utm_source=share&amp;utm_medium=member_desktop&amp;rcm=ACoAAATCK8AB8LEMRRQ353gE1bukLsTb6mY_Zbg</a:t>
            </a:r>
            <a:r>
              <a:rPr lang="en-US" dirty="0"/>
              <a:t> </a:t>
            </a:r>
          </a:p>
        </p:txBody>
      </p:sp>
    </p:spTree>
    <p:extLst>
      <p:ext uri="{BB962C8B-B14F-4D97-AF65-F5344CB8AC3E}">
        <p14:creationId xmlns:p14="http://schemas.microsoft.com/office/powerpoint/2010/main" val="3158359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1" y="329879"/>
            <a:ext cx="8906720" cy="6793719"/>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Demo 2: Excel keyboard shortcut agent </a:t>
            </a:r>
          </a:p>
          <a:p>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Create Excel MVP knowledge base with Copilot Studio</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Set custom knowledge sources &amp; instructions</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Compare and contrast Copilot Studio vs 365 Custom Agents</a:t>
            </a:r>
          </a:p>
        </p:txBody>
      </p:sp>
    </p:spTree>
    <p:extLst>
      <p:ext uri="{BB962C8B-B14F-4D97-AF65-F5344CB8AC3E}">
        <p14:creationId xmlns:p14="http://schemas.microsoft.com/office/powerpoint/2010/main" val="3871531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149B3-259B-792A-DA00-3925FC1C22B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85A762E-77CB-F606-E5D0-C538B0AA987B}"/>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B8566CDB-4D3B-5BBF-D4E9-9DCA72CA5CA9}"/>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E4241F6A-1443-B6DA-FC41-5BE3606C17A2}"/>
              </a:ext>
            </a:extLst>
          </p:cNvPr>
          <p:cNvSpPr txBox="1"/>
          <p:nvPr/>
        </p:nvSpPr>
        <p:spPr>
          <a:xfrm>
            <a:off x="260431" y="329879"/>
            <a:ext cx="8906720" cy="4741363"/>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Demo 3: Expense account agent</a:t>
            </a:r>
          </a:p>
          <a:p>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Build PDF receipt to Excel expense report agent (a la </a:t>
            </a:r>
            <a:r>
              <a:rPr lang="en-US" sz="3600" dirty="0" err="1">
                <a:solidFill>
                  <a:srgbClr val="C00000"/>
                </a:solidFill>
                <a:latin typeface="Pragmatica" panose="020B0403040502020204"/>
                <a:sym typeface="Consolas"/>
              </a:rPr>
              <a:t>Shoeboxed</a:t>
            </a:r>
            <a:r>
              <a:rPr lang="en-US" sz="3600" dirty="0">
                <a:solidFill>
                  <a:srgbClr val="C00000"/>
                </a:solidFill>
                <a:latin typeface="Pragmatica" panose="020B0403040502020204"/>
                <a:sym typeface="Consolas"/>
              </a:rPr>
              <a:t>)</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Use 365 Custom Agents for ease of build</a:t>
            </a:r>
          </a:p>
        </p:txBody>
      </p:sp>
    </p:spTree>
    <p:extLst>
      <p:ext uri="{BB962C8B-B14F-4D97-AF65-F5344CB8AC3E}">
        <p14:creationId xmlns:p14="http://schemas.microsoft.com/office/powerpoint/2010/main" val="2259049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E537F-A0F6-F9A4-A839-3870DD03847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50081C6-A530-628D-601C-E695FB64E06C}"/>
              </a:ext>
            </a:extLst>
          </p:cNvPr>
          <p:cNvSpPr txBox="1"/>
          <p:nvPr/>
        </p:nvSpPr>
        <p:spPr>
          <a:xfrm>
            <a:off x="520861" y="170082"/>
            <a:ext cx="15938339" cy="2554545"/>
          </a:xfrm>
          <a:prstGeom prst="rect">
            <a:avLst/>
          </a:prstGeom>
          <a:noFill/>
        </p:spPr>
        <p:txBody>
          <a:bodyPr wrap="square" rtlCol="0">
            <a:spAutoFit/>
          </a:bodyPr>
          <a:lstStyle/>
          <a:p>
            <a:r>
              <a:rPr lang="en-US" sz="8000" dirty="0">
                <a:latin typeface="Aliens &amp; cows" panose="00000500000000000000" pitchFamily="2" charset="0"/>
              </a:rPr>
              <a:t>See you in May?</a:t>
            </a:r>
          </a:p>
          <a:p>
            <a:r>
              <a:rPr lang="en-US" sz="8000" dirty="0">
                <a:latin typeface="Aliens &amp; cows" panose="00000500000000000000" pitchFamily="2" charset="0"/>
              </a:rPr>
              <a:t>10% off with GEORGE10 at checkout</a:t>
            </a:r>
          </a:p>
        </p:txBody>
      </p:sp>
      <p:pic>
        <p:nvPicPr>
          <p:cNvPr id="15" name="Picture 14" descr="A close up of a sign&#10;&#10;Description automatically generated">
            <a:extLst>
              <a:ext uri="{FF2B5EF4-FFF2-40B4-BE49-F238E27FC236}">
                <a16:creationId xmlns:a16="http://schemas.microsoft.com/office/drawing/2014/main" id="{C9EB311B-7CFD-7CD7-567D-693DE568F5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pic>
        <p:nvPicPr>
          <p:cNvPr id="2" name="Picture 1" descr="Becoming a Citizen Developer with Power Platform">
            <a:extLst>
              <a:ext uri="{FF2B5EF4-FFF2-40B4-BE49-F238E27FC236}">
                <a16:creationId xmlns:a16="http://schemas.microsoft.com/office/drawing/2014/main" id="{583F2E91-BEF3-9135-163C-B5595336B303}"/>
              </a:ext>
            </a:extLst>
          </p:cNvPr>
          <p:cNvPicPr>
            <a:picLocks noChangeAspect="1"/>
          </p:cNvPicPr>
          <p:nvPr/>
        </p:nvPicPr>
        <p:blipFill>
          <a:blip r:embed="rId3"/>
          <a:stretch>
            <a:fillRect/>
          </a:stretch>
        </p:blipFill>
        <p:spPr>
          <a:xfrm>
            <a:off x="762000" y="2724627"/>
            <a:ext cx="11353800" cy="6731502"/>
          </a:xfrm>
          <a:prstGeom prst="rect">
            <a:avLst/>
          </a:prstGeom>
        </p:spPr>
      </p:pic>
      <p:sp>
        <p:nvSpPr>
          <p:cNvPr id="5" name="TextBox 4">
            <a:extLst>
              <a:ext uri="{FF2B5EF4-FFF2-40B4-BE49-F238E27FC236}">
                <a16:creationId xmlns:a16="http://schemas.microsoft.com/office/drawing/2014/main" id="{8D282980-8731-A883-7E62-613367014212}"/>
              </a:ext>
            </a:extLst>
          </p:cNvPr>
          <p:cNvSpPr txBox="1"/>
          <p:nvPr/>
        </p:nvSpPr>
        <p:spPr>
          <a:xfrm>
            <a:off x="738909" y="9639300"/>
            <a:ext cx="9185562" cy="369332"/>
          </a:xfrm>
          <a:prstGeom prst="rect">
            <a:avLst/>
          </a:prstGeom>
          <a:noFill/>
        </p:spPr>
        <p:txBody>
          <a:bodyPr wrap="square">
            <a:spAutoFit/>
          </a:bodyPr>
          <a:lstStyle/>
          <a:p>
            <a:r>
              <a:rPr lang="en-US" dirty="0">
                <a:hlinkClick r:id="rId4"/>
              </a:rPr>
              <a:t>https://globalexcelsummit.com/product/becoming-a-citizen-developer-with-power-platform</a:t>
            </a:r>
            <a:r>
              <a:rPr lang="en-US" dirty="0"/>
              <a:t> </a:t>
            </a:r>
          </a:p>
        </p:txBody>
      </p:sp>
    </p:spTree>
    <p:extLst>
      <p:ext uri="{BB962C8B-B14F-4D97-AF65-F5344CB8AC3E}">
        <p14:creationId xmlns:p14="http://schemas.microsoft.com/office/powerpoint/2010/main" val="841224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F8FFE-158A-9FDC-051A-D88206B6219A}"/>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1A854B57-40B5-4E04-E438-9349D85A32C2}"/>
              </a:ext>
            </a:extLst>
          </p:cNvPr>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a:extLst>
              <a:ext uri="{FF2B5EF4-FFF2-40B4-BE49-F238E27FC236}">
                <a16:creationId xmlns:a16="http://schemas.microsoft.com/office/drawing/2014/main" id="{A1F26F84-9A6D-C7B1-105C-C9F00C2A4C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a:extLst>
              <a:ext uri="{FF2B5EF4-FFF2-40B4-BE49-F238E27FC236}">
                <a16:creationId xmlns:a16="http://schemas.microsoft.com/office/drawing/2014/main" id="{19435C5F-0C01-26A6-7F3B-19F80F4301AF}"/>
              </a:ext>
            </a:extLst>
          </p:cNvPr>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7A25274D-8C42-1ECF-607F-63D6238B83A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1872379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1CF9C-FC7D-DEAE-2D87-10577021DCA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6CBD8B9-A494-A7F7-0F64-845B951EC99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a:extLst>
              <a:ext uri="{FF2B5EF4-FFF2-40B4-BE49-F238E27FC236}">
                <a16:creationId xmlns:a16="http://schemas.microsoft.com/office/drawing/2014/main" id="{AC63943A-3FAF-22B6-228E-4092BA65AC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a:extLst>
              <a:ext uri="{FF2B5EF4-FFF2-40B4-BE49-F238E27FC236}">
                <a16:creationId xmlns:a16="http://schemas.microsoft.com/office/drawing/2014/main" id="{5DFCEBB5-9C7D-6182-700C-0428AD2DDE67}"/>
              </a:ext>
            </a:extLst>
          </p:cNvPr>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Thank you</a:t>
            </a:r>
          </a:p>
        </p:txBody>
      </p:sp>
      <p:sp>
        <p:nvSpPr>
          <p:cNvPr id="2" name="AutoShape 2" descr="Home | Full Stack Modeller">
            <a:extLst>
              <a:ext uri="{FF2B5EF4-FFF2-40B4-BE49-F238E27FC236}">
                <a16:creationId xmlns:a16="http://schemas.microsoft.com/office/drawing/2014/main" id="{16E5F1F1-B220-BEC5-B5EA-499D4942916C}"/>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09344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3838</TotalTime>
  <Words>734</Words>
  <Application>Microsoft Office PowerPoint</Application>
  <PresentationFormat>Custom</PresentationFormat>
  <Paragraphs>66</Paragraphs>
  <Slides>12</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Aliens &amp; cows</vt:lpstr>
      <vt:lpstr>Normafixed Tryout</vt:lpstr>
      <vt:lpstr>Calibri</vt:lpstr>
      <vt:lpstr>Pragmatica</vt:lpstr>
      <vt:lpstr>Arial</vt:lpstr>
      <vt:lpstr>Office Theme</vt:lpstr>
      <vt:lpstr>Custom Copilot with Copilot Studio: Building AI Assistants for Excel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excel-statistics-for-business-analytics</dc:title>
  <dc:creator>User</dc:creator>
  <cp:lastModifiedBy>George Mount</cp:lastModifiedBy>
  <cp:revision>239</cp:revision>
  <dcterms:created xsi:type="dcterms:W3CDTF">2006-08-16T00:00:00Z</dcterms:created>
  <dcterms:modified xsi:type="dcterms:W3CDTF">2026-03-04T23:17:53Z</dcterms:modified>
  <dc:identifier>DADurESpNu8</dc:identifier>
</cp:coreProperties>
</file>